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_chart_s2_q11_abc_xyz_matrix_frequency.png" ContentType="image/png"/>
  <Override PartName="/ppt/media/image_chart_s2_q11_abc_xyz_matrix_volatility.png" ContentType="image/png"/>
  <Override PartName="/ppt/media/image_chart_s3_q12_province_demand_choropleths.png" ContentType="image/png"/>
  <Override PartName="/ppt/media/image_chart_s4_q13_order_profile_comparison.png" ContentType="image/png"/>
  <Override PartName="/ppt/media/image_chart_s4_q13_packaging_mix.png" ContentType="image/png"/>
  <Override PartName="/ppt/media/image_chart_s5_q21_network_coverage.png" ContentType="image/png"/>
  <Override PartName="/ppt/media/image_chart_s6_q21_hcm_district_volume.png" ContentType="image/png"/>
  <Override PartName="/ppt/media/image_chart_s7_q22_inventory_pooling.png" ContentType="image/png"/>
  <Override PartName="/ppt/media/image_chart_s7_q22_lead_time_sensitivity.png" ContentType="image/png"/>
  <Override PartName="/ppt/media/image_chart_s8_q31_u_shape_heatmap.png" ContentType="image/png"/>
  <Override PartName="/ppt/media/image_chart_s9_q32_pick_pack_flowchart.png" ContentType="image/png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Signika Bold" charset="1" panose="02010003020600000004"/>
      <p:regular r:id="rId7"/>
    </p:embeddedFont>
    <p:embeddedFont>
      <p:font typeface="Signika" charset="1" panose="0201000302060000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2_q11_abc_xyz_matrix_frequency.png"/><Relationship Id="rId4" Type="http://schemas.openxmlformats.org/officeDocument/2006/relationships/image" Target="../media/image_chart_s2_q11_abc_xyz_matrix_volatility.png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3_q12_province_demand_choropleths.png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4_q13_order_profile_comparison.png"/><Relationship Id="rId4" Type="http://schemas.openxmlformats.org/officeDocument/2006/relationships/image" Target="../media/image_chart_s4_q13_packaging_mix.png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5_q21_network_coverage.png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6_q21_hcm_district_volume.png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7_q22_inventory_pooling.png"/><Relationship Id="rId4" Type="http://schemas.openxmlformats.org/officeDocument/2006/relationships/image" Target="../media/image_chart_s7_q22_lead_time_sensitivity.png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8_q31_u_shape_heatmap.png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ype="http://schemas.openxmlformats.org/officeDocument/2006/relationships/image" Target="../media/image_chart_s9_q32_pick_pack_flowchart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LOGage 2026</a:t>
            </a:r>
          </a:p>
        </p:txBody>
      </p:sp>
      <p:sp>
        <p:nvSpPr>
          <p:cNvPr id="101" name="SlideSubtitle"/>
          <p:cNvSpPr txBox="true"/>
          <p:nvPr/>
        </p:nvSpPr>
        <p:spPr>
          <a:xfrm>
            <a:off x="457200" y="1350000"/>
            <a:ext cx="16800000" cy="4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1800" b="0">
                <a:solidFill>
                  <a:srgbClr val="2F67A3"/>
                </a:solidFill>
                <a:latin typeface="Calibri"/>
              </a:rPr>
              <a:t>Omni-Channel Distribution System Optimization — Round 2</a:t>
            </a:r>
          </a:p>
        </p:txBody>
      </p:sp>
      <p:sp>
        <p:nvSpPr>
          <p:cNvPr id="102" name="SlideDesc"/>
          <p:cNvSpPr txBox="true"/>
          <p:nvPr/>
        </p:nvSpPr>
        <p:spPr>
          <a:xfrm>
            <a:off x="457200" y="1700000"/>
            <a:ext cx="16800000" cy="35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1400" b="0">
                <a:solidFill>
                  <a:srgbClr val="5CE2E7"/>
                </a:solidFill>
                <a:latin typeface="Calibri"/>
              </a:rPr>
              <a:t>Network Profiling · Fulfillment Strategy · Warehouse Operations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1" sz="2000">
                <a:solidFill>
                  <a:srgbClr val="F96167"/>
                </a:solidFill>
                <a:latin typeface="Signika Bold"/>
                <a:ea typeface="Signika Bold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Q1.1 — ABC-XYZ Analysis: 19 Class AA SKUs Drive 57.9% of Volume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19 Fast-Moving SKUs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Class AA: 57.9% volume, 25.9% order frequency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Top SKU 4200009163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163,014 units, 5,381 orders — highest operational pressure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Classification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Volume A ≥70%, Volume B ≥90%; Frequency A = top frequency class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Fast-Moving Group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Creates highest warehouse fulfillment pressure — prioritize slotting</a:t>
            </a:r>
          </a:p>
        </p:txBody>
      </p:sp>
      <p:pic>
        <p:nvPicPr>
          <p:cNvPr id="320" name="Chart2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4400000" cy="5200000"/>
          </a:xfrm>
          <a:prstGeom prst="rect">
            <a:avLst/>
          </a:prstGeom>
          <a:noFill/>
        </p:spPr>
      </p:pic>
      <p:sp>
        <p:nvSpPr>
          <p:cNvPr id="352" name="ChartCaption2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ABC-XYZ Matrix: Frequency and Volatility classifications — AA cluster highlighted</a:t>
            </a:r>
          </a:p>
        </p:txBody>
      </p:sp>
      <p:pic>
        <p:nvPicPr>
          <p:cNvPr id="321" name="Chart2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0000" y="1000000"/>
            <a:ext cx="4400000" cy="5200000"/>
          </a:xfrm>
          <a:prstGeom prst="rect">
            <a:avLst/>
          </a:prstGeom>
          <a:noFill/>
        </p:spPr>
      </p:pic>
      <p:sp>
        <p:nvSpPr>
          <p:cNvPr id="352" name="ChartCaption2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ABC-XYZ Matrix: Frequency and Volatility classifications — AA cluster highlighted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Q1.2 — Severe Geographic Imbalance: My Phuoc Ships 92% of HCMC Volume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HCMC Top Province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65,527 units — 23.7% of total outbound volume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Binh Duong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43,012 units, #2 province — near My Phuoc RDC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Warehouse Imbalance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My Phuoc dominates all regions; Vinh Loc only leads in Bắc Ninh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Key Gap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Vinh Loc (in HCMC) ships only 8% of HCMC volume — severe underutilization</a:t>
            </a:r>
          </a:p>
        </p:txBody>
      </p:sp>
      <p:pic>
        <p:nvPicPr>
          <p:cNvPr id="330" name="Chart3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9200000" cy="5200000"/>
          </a:xfrm>
          <a:prstGeom prst="rect">
            <a:avLst/>
          </a:prstGeom>
          <a:noFill/>
        </p:spPr>
      </p:pic>
      <p:sp>
        <p:nvSpPr>
          <p:cNvPr id="353" name="ChartCaption3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Province demand choropleth map and warehouse dominance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Q1.3 — Modern Trade vs Traditional Trade: Two Distinct Fulfillment Profiles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Modern Trade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80.2 units/order, 75% pallet, 2.8 SKUs/order — bulk B2B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Traditional Trade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41.3 units/order, 49% carton, 4.3 SKUs/order — fragmented B2B/B2C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Lead Time Sensitivity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Modern Trade: High (4,948 SS); Traditional: Low (3,963 SS)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Geographic Spread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Modern: 34 provinces; Traditional: 60 provinces — wider network</a:t>
            </a:r>
          </a:p>
        </p:txBody>
      </p:sp>
      <p:pic>
        <p:nvPicPr>
          <p:cNvPr id="340" name="Chart4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4400000" cy="5200000"/>
          </a:xfrm>
          <a:prstGeom prst="rect">
            <a:avLst/>
          </a:prstGeom>
          <a:noFill/>
        </p:spPr>
      </p:pic>
      <p:sp>
        <p:nvSpPr>
          <p:cNvPr id="354" name="ChartCaption4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Order profile comparison (left) and packaging unit mix (right)</a:t>
            </a:r>
          </a:p>
        </p:txBody>
      </p:sp>
      <p:pic>
        <p:nvPicPr>
          <p:cNvPr id="341" name="Chart4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0000" y="1000000"/>
            <a:ext cx="4400000" cy="5200000"/>
          </a:xfrm>
          <a:prstGeom prst="rect">
            <a:avLst/>
          </a:prstGeom>
          <a:noFill/>
        </p:spPr>
      </p:pic>
      <p:sp>
        <p:nvSpPr>
          <p:cNvPr id="354" name="ChartCaption4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Order profile comparison (left) and packaging unit mix (right)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Q2.1 — Current Two-RDC Model Fails B2C 2hr SLA for 85% of HCMC Districts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Baseline Service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105–156 minutes (pick 30 + pack 30 + dispatch 30 + drive)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SLA Compliance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Only 3/19 districts meet 2hr SLA: Bình Tân, Tân Phú, Bình Chánh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Strengths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Good B2B coverage; My Phuoc well-positioned for industrial zones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Limitations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Vinh Loc too far from HCMC core; no urban fulfillment nodes</a:t>
            </a:r>
          </a:p>
        </p:txBody>
      </p:sp>
      <p:pic>
        <p:nvPicPr>
          <p:cNvPr id="350" name="Chart5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9200000" cy="5200000"/>
          </a:xfrm>
          <a:prstGeom prst="rect">
            <a:avLst/>
          </a:prstGeom>
          <a:noFill/>
        </p:spPr>
      </p:pic>
      <p:sp>
        <p:nvSpPr>
          <p:cNvPr id="355" name="ChartCaption5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Network coverage map showing existing RDC locations and service areas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Q2.1 — Two Dark Stores Enable 100% HCMC Coverage Within 2hr SLA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DS1 — Tân Phú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Covers West HCMC: 6 districts, avg 63 min drive saving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DS2 — Quận 1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Covers Central/East: 12 districts, avg 92 min drive saving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Investment Case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Top 6 HCMC districts = 77% of volume — justifies dark store investment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Vinh Loc Retained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Củ Chi &amp; suburban coverage; maintains B2B capability</a:t>
            </a:r>
          </a:p>
        </p:txBody>
      </p:sp>
      <p:pic>
        <p:nvPicPr>
          <p:cNvPr id="360" name="Chart6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9200000" cy="5200000"/>
          </a:xfrm>
          <a:prstGeom prst="rect">
            <a:avLst/>
          </a:prstGeom>
          <a:noFill/>
        </p:spPr>
      </p:pic>
      <p:sp>
        <p:nvSpPr>
          <p:cNvPr id="356" name="ChartCaption6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HCMC district order volume distribution and service time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Q2.2 — Pooling Reduces Safety Stock 49–62% While Preventing Cross-Channel Stockouts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Formula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SS = Z × σ_daily × √LT (Z=1.645, LT=1.94 days avg)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Top SKU SS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4200009163: 3,174 units, ROP: 3,676 units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Pooling Scenarios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Separated: 31,852 → Shared Pool: 16,325 (−49%) → Mile-Weighted: 12,168 (−62%)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Allocation Rule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Real-time ATP → B2C priority if SLA-critical → B2B 24hr backorder → Escalate</a:t>
            </a:r>
          </a:p>
        </p:txBody>
      </p:sp>
      <p:pic>
        <p:nvPicPr>
          <p:cNvPr id="370" name="Chart7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4400000" cy="5200000"/>
          </a:xfrm>
          <a:prstGeom prst="rect">
            <a:avLst/>
          </a:prstGeom>
          <a:noFill/>
        </p:spPr>
      </p:pic>
      <p:sp>
        <p:nvSpPr>
          <p:cNvPr id="357" name="ChartCaption7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Inventory pooling scenarios (left) and lead time sensitivity analysis (right)</a:t>
            </a:r>
          </a:p>
        </p:txBody>
      </p:sp>
      <p:pic>
        <p:nvPicPr>
          <p:cNvPr id="371" name="Chart7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0000" y="1000000"/>
            <a:ext cx="4400000" cy="5200000"/>
          </a:xfrm>
          <a:prstGeom prst="rect">
            <a:avLst/>
          </a:prstGeom>
          <a:noFill/>
        </p:spPr>
      </p:pic>
      <p:sp>
        <p:nvSpPr>
          <p:cNvPr id="357" name="ChartCaption7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Inventory pooling scenarios (left) and lead time sensitivity analysis (right)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Q3.1 — U-Shape Slotting Optimization: 38.2% Travel Time Reduction</a:t>
            </a:r>
          </a:p>
        </p:txBody>
      </p:sp>
      <p:sp>
        <p:nvSpPr>
          <p:cNvPr id="200" name="Bullet1"/>
          <p:cNvSpPr txBox="true"/>
          <p:nvPr/>
        </p:nvSpPr>
        <p:spPr>
          <a:xfrm>
            <a:off x="457200" y="1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Slotting Zones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Pick-Face (28 Class A) → Forward Reserve (Class B) → Reserve (Class C)</a:t>
            </a:r>
          </a:p>
        </p:txBody>
      </p:sp>
      <p:sp>
        <p:nvSpPr>
          <p:cNvPr id="201" name="Bullet2"/>
          <p:cNvSpPr txBox="true"/>
          <p:nvPr/>
        </p:nvSpPr>
        <p:spPr>
          <a:xfrm>
            <a:off x="457200" y="2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Travel Time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Baseline: 210m/order → Optimized: 130m/order</a:t>
            </a:r>
          </a:p>
        </p:txBody>
      </p:sp>
      <p:sp>
        <p:nvSpPr>
          <p:cNvPr id="202" name="Bullet3"/>
          <p:cNvSpPr txBox="true"/>
          <p:nvPr/>
        </p:nvSpPr>
        <p:spPr>
          <a:xfrm>
            <a:off x="457200" y="25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Methodology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ABC-based zoning with ergonomic height and proximity to packing</a:t>
            </a:r>
          </a:p>
        </p:txBody>
      </p:sp>
      <p:sp>
        <p:nvSpPr>
          <p:cNvPr id="203" name="Bullet4"/>
          <p:cNvSpPr txBox="true"/>
          <p:nvPr/>
        </p:nvSpPr>
        <p:spPr>
          <a:xfrm>
            <a:off x="457200" y="3000000"/>
            <a:ext cx="7600000" cy="4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 rtl="0">
              <a:lnSpc>
                <a:spcPts val="2400"/>
              </a:lnSpc>
            </a:pPr>
            <a:r>
              <a:rPr lang="en-US" sz="1400" b="1">
                <a:solidFill>
                  <a:srgbClr val="1E2761"/>
                </a:solidFill>
                <a:latin typeface="Calibri"/>
              </a:rPr>
              <a:t>Result</a:t>
            </a:r>
            <a:r>
              <a:rPr lang="en-US" sz="1400" b="0">
                <a:solidFill>
                  <a:srgbClr val="334155"/>
                </a:solidFill>
                <a:latin typeface="Calibri"/>
              </a:rPr>
              <a:t xml:space="preserve"> — SKU-to-zone assignment minimizes cross-aisle travel by 38.2%</a:t>
            </a:r>
          </a:p>
        </p:txBody>
      </p:sp>
      <p:pic>
        <p:nvPicPr>
          <p:cNvPr id="380" name="Chart8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000" y="1000000"/>
            <a:ext cx="9200000" cy="3770000"/>
          </a:xfrm>
          <a:prstGeom prst="rect">
            <a:avLst/>
          </a:prstGeom>
          <a:noFill/>
        </p:spPr>
      </p:pic>
      <p:sp>
        <p:nvSpPr>
          <p:cNvPr id="358" name="ChartCaption8"/>
          <p:cNvSpPr txBox="true"/>
          <p:nvPr/>
        </p:nvSpPr>
        <p:spPr>
          <a:xfrm>
            <a:off x="8500000" y="6200000"/>
            <a:ext cx="9200000" cy="3000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l"/>
            <a:r>
              <a:rPr lang="en-US" sz="1000" b="0" italic="1">
                <a:solidFill>
                  <a:srgbClr val="64748B"/>
                </a:solidFill>
                <a:latin typeface="Calibri"/>
              </a:rPr>
              <a:t>U-Shape slotting heatmap showing pick-face zone assignment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55112"/>
            <a:ext cx="18288000" cy="1276236"/>
            <a:chOff x="0" y="0"/>
            <a:chExt cx="937083" cy="6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83" cy="65395"/>
            </a:xfrm>
            <a:custGeom>
              <a:avLst/>
              <a:gdLst/>
              <a:ahLst/>
              <a:cxnLst/>
              <a:rect r="r" b="b" t="t" l="l"/>
              <a:pathLst>
                <a:path h="65395" w="937083">
                  <a:moveTo>
                    <a:pt x="0" y="0"/>
                  </a:moveTo>
                  <a:lnTo>
                    <a:pt x="937083" y="0"/>
                  </a:lnTo>
                  <a:lnTo>
                    <a:pt x="937083" y="65395"/>
                  </a:lnTo>
                  <a:lnTo>
                    <a:pt x="0" y="65395"/>
                  </a:lnTo>
                  <a:close/>
                </a:path>
              </a:pathLst>
            </a:custGeom>
            <a:gradFill rotWithShape="true">
              <a:gsLst>
                <a:gs pos="0">
                  <a:srgbClr val="2F67A3">
                    <a:alpha val="100000"/>
                  </a:srgbClr>
                </a:gs>
                <a:gs pos="100000">
                  <a:srgbClr val="5CE2E7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7083" cy="1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74"/>
            <a:ext cx="2579097" cy="514350"/>
            <a:chOff x="0" y="0"/>
            <a:chExt cx="679268" cy="135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68" cy="135467"/>
            </a:xfrm>
            <a:custGeom>
              <a:avLst/>
              <a:gdLst/>
              <a:ahLst/>
              <a:cxnLst/>
              <a:rect r="r" b="b" t="t" l="l"/>
              <a:pathLst>
                <a:path h="135467" w="679268">
                  <a:moveTo>
                    <a:pt x="0" y="0"/>
                  </a:moveTo>
                  <a:lnTo>
                    <a:pt x="679268" y="0"/>
                  </a:lnTo>
                  <a:lnTo>
                    <a:pt x="6792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D9D2D5">
                <a:alpha val="2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9268" cy="183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29142" y="442632"/>
            <a:ext cx="1258858" cy="1067032"/>
          </a:xfrm>
          <a:custGeom>
            <a:avLst/>
            <a:gdLst/>
            <a:ahLst/>
            <a:cxnLst/>
            <a:rect r="r" b="b" t="t" l="l"/>
            <a:pathLst>
              <a:path h="1067032" w="1258858">
                <a:moveTo>
                  <a:pt x="0" y="0"/>
                </a:moveTo>
                <a:lnTo>
                  <a:pt x="1258858" y="0"/>
                </a:lnTo>
                <a:lnTo>
                  <a:pt x="1258858" y="1067032"/>
                </a:lnTo>
                <a:lnTo>
                  <a:pt x="0" y="106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4332"/>
            <a:ext cx="257909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 Bold"/>
                <a:sym typeface="Signika Bold"/>
              </a:rPr>
              <a:t>ABC-XYZ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6732" y="65512"/>
            <a:ext cx="49866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Distribution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2096" y="65512"/>
            <a:ext cx="23987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Order Profiling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2261" y="74332"/>
            <a:ext cx="24462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Network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5773" y="65512"/>
            <a:ext cx="23513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ignika"/>
                <a:ea typeface="Signika"/>
                <a:cs typeface="Signika"/>
                <a:sym typeface="Signika"/>
              </a:rPr>
              <a:t>Inventory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6133" y="65512"/>
            <a:ext cx="3995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6167"/>
                </a:solidFill>
                <a:latin typeface="Signika Bold"/>
                <a:ea typeface="Signika Bold"/>
                <a:cs typeface="Signika"/>
                <a:sym typeface="Signika"/>
              </a:rPr>
              <a:t>Warehouse Operations</a:t>
            </a:r>
          </a:p>
        </p:txBody>
      </p:sp>
      <p:sp>
        <p:nvSpPr>
          <p:cNvPr id="100" name="SlideTitle"/>
          <p:cNvSpPr txBox="true"/>
          <p:nvPr/>
        </p:nvSpPr>
        <p:spPr>
          <a:xfrm>
            <a:off x="457200" y="800000"/>
            <a:ext cx="16800000" cy="600000"/>
          </a:xfrm>
          <a:prstGeom prst="rect">
            <a:avLst/>
          </a:prstGeom>
        </p:spPr>
        <p:txBody>
          <a:bodyPr wrap="none" rtlCol="false">
            <a:spAutoFit/>
          </a:bodyPr>
          <a:lstStyle/>
          <a:p>
            <a:pPr algn="l"/>
            <a:r>
              <a:rPr lang="en-US" sz="2400" b="1" caps="none">
                <a:solidFill>
                  <a:srgbClr val="1E2761"/>
                </a:solidFill>
                <a:latin typeface="Calibri"/>
              </a:rPr>
              <a:t>Q3.2 — Omni-Channel Pick-and-Pack Decision Flowchart</a:t>
            </a:r>
          </a:p>
        </p:txBody>
      </p:sp>
      <p:pic>
        <p:nvPicPr>
          <p:cNvPr id="409" name="Flowchart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00" y="1600000"/>
            <a:ext cx="7700000" cy="770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DAHLVqN43j8</dc:identifier>
  <dcterms:modified xsi:type="dcterms:W3CDTF">2011-08-01T06:04:30Z</dcterms:modified>
  <cp:revision>1</cp:revision>
  <dc:title>Red Modern Logistic Presentation</dc:title>
</cp:coreProperties>
</file>